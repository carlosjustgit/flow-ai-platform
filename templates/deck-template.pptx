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abc016a46_0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cabc016a46_0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abc016a46_0_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cabc016a46_0_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abc016a46_0_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abc016a46_0_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/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7"/>
          <p:cNvSpPr txBox="1"/>
          <p:nvPr/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0" y="0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</p:sp>
      <p:sp>
        <p:nvSpPr>
          <p:cNvPr id="121" name="Google Shape;121;p27"/>
          <p:cNvSpPr txBox="1"/>
          <p:nvPr/>
        </p:nvSpPr>
        <p:spPr>
          <a:xfrm>
            <a:off x="509040" y="5107719"/>
            <a:ext cx="93726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600">
                <a:solidFill>
                  <a:srgbClr val="F2F2F2"/>
                </a:solidFill>
              </a:rPr>
              <a:t>{headline}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6450" y="4646200"/>
            <a:ext cx="39603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000">
                <a:solidFill>
                  <a:schemeClr val="lt1"/>
                </a:solidFill>
              </a:rPr>
              <a:t>{deck_title} </a:t>
            </a:r>
            <a:endParaRPr b="1" i="0" sz="2000" u="none" cap="none" strike="noStrike">
              <a:solidFill>
                <a:schemeClr val="lt1"/>
              </a:solidFill>
            </a:endParaRPr>
          </a:p>
        </p:txBody>
      </p:sp>
      <p:pic>
        <p:nvPicPr>
          <p:cNvPr id="123" name="Google Shape;1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12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7"/>
          <p:cNvPicPr preferRelativeResize="0"/>
          <p:nvPr/>
        </p:nvPicPr>
        <p:blipFill rotWithShape="1">
          <a:blip r:embed="rId4">
            <a:alphaModFix/>
          </a:blip>
          <a:srcRect b="13515" l="0" r="0" t="0"/>
          <a:stretch/>
        </p:blipFill>
        <p:spPr>
          <a:xfrm>
            <a:off x="0" y="324720"/>
            <a:ext cx="12192120" cy="469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7"/>
          <p:cNvPicPr preferRelativeResize="0"/>
          <p:nvPr/>
        </p:nvPicPr>
        <p:blipFill rotWithShape="1">
          <a:blip r:embed="rId5">
            <a:alphaModFix/>
          </a:blip>
          <a:srcRect b="8713" l="0" r="0" t="0"/>
          <a:stretch/>
        </p:blipFill>
        <p:spPr>
          <a:xfrm>
            <a:off x="0" y="0"/>
            <a:ext cx="12192120" cy="41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 txBox="1"/>
          <p:nvPr/>
        </p:nvSpPr>
        <p:spPr>
          <a:xfrm>
            <a:off x="9413280" y="5736960"/>
            <a:ext cx="2269440" cy="66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1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Cliente: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F2F2F2"/>
                </a:solidFill>
              </a:rPr>
              <a:t>{client_name}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2760" y="3067920"/>
            <a:ext cx="1866600" cy="18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/>
          <p:nvPr/>
        </p:nvSpPr>
        <p:spPr>
          <a:xfrm>
            <a:off x="0" y="0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</p:sp>
      <p:pic>
        <p:nvPicPr>
          <p:cNvPr id="134" name="Google Shape;13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000" y="3906360"/>
            <a:ext cx="794880" cy="79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8"/>
          <p:cNvSpPr txBox="1"/>
          <p:nvPr/>
        </p:nvSpPr>
        <p:spPr>
          <a:xfrm>
            <a:off x="541718" y="4707926"/>
            <a:ext cx="937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1332790" y="3906345"/>
            <a:ext cx="937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00">
                <a:solidFill>
                  <a:srgbClr val="F2F2F2"/>
                </a:solidFill>
              </a:rPr>
              <a:t>{slide2_headline}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000" y="455040"/>
            <a:ext cx="1358280" cy="16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800" y="6568560"/>
            <a:ext cx="2666520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3960" y="6141600"/>
            <a:ext cx="317520" cy="31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5440" y="3569400"/>
            <a:ext cx="3441240" cy="863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9"/>
          <p:cNvSpPr/>
          <p:nvPr/>
        </p:nvSpPr>
        <p:spPr>
          <a:xfrm>
            <a:off x="0" y="6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</p:sp>
      <p:pic>
        <p:nvPicPr>
          <p:cNvPr id="147" name="Google Shape;1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400" y="636120"/>
            <a:ext cx="391680" cy="39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9"/>
          <p:cNvSpPr txBox="1"/>
          <p:nvPr/>
        </p:nvSpPr>
        <p:spPr>
          <a:xfrm>
            <a:off x="1092240" y="658440"/>
            <a:ext cx="2209680" cy="36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sz="1800">
                <a:solidFill>
                  <a:srgbClr val="B5B5B5"/>
                </a:solidFill>
              </a:rPr>
              <a:t>{slide3_title}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29"/>
          <p:cNvCxnSpPr/>
          <p:nvPr/>
        </p:nvCxnSpPr>
        <p:spPr>
          <a:xfrm>
            <a:off x="718200" y="3810019"/>
            <a:ext cx="10755600" cy="300"/>
          </a:xfrm>
          <a:prstGeom prst="straightConnector1">
            <a:avLst/>
          </a:prstGeom>
          <a:noFill/>
          <a:ln cap="flat" cmpd="sng" w="12600">
            <a:solidFill>
              <a:srgbClr val="DBD9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0" name="Google Shape;150;p29"/>
          <p:cNvCxnSpPr/>
          <p:nvPr/>
        </p:nvCxnSpPr>
        <p:spPr>
          <a:xfrm flipH="1" rot="10800000">
            <a:off x="1477870" y="2232494"/>
            <a:ext cx="300" cy="3353400"/>
          </a:xfrm>
          <a:prstGeom prst="straightConnector1">
            <a:avLst/>
          </a:prstGeom>
          <a:noFill/>
          <a:ln cap="flat" cmpd="sng" w="12600">
            <a:solidFill>
              <a:srgbClr val="DBD9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1" name="Google Shape;151;p29"/>
          <p:cNvSpPr txBox="1"/>
          <p:nvPr/>
        </p:nvSpPr>
        <p:spPr>
          <a:xfrm>
            <a:off x="1791290" y="2304139"/>
            <a:ext cx="78426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/>
              <a:t>{slide3_bullet_1}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3960" y="6141600"/>
            <a:ext cx="317520" cy="3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800" y="6576840"/>
            <a:ext cx="266652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/>
        </p:nvSpPr>
        <p:spPr>
          <a:xfrm>
            <a:off x="1824410" y="4087579"/>
            <a:ext cx="78426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/>
              <a:t>{slide3_bullet_2}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/>
        </p:nvSpPr>
        <p:spPr>
          <a:xfrm>
            <a:off x="838080" y="365040"/>
            <a:ext cx="105156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5440" y="3569400"/>
            <a:ext cx="3441240" cy="863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/>
          <p:nvPr/>
        </p:nvSpPr>
        <p:spPr>
          <a:xfrm>
            <a:off x="0" y="6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</p:sp>
      <p:pic>
        <p:nvPicPr>
          <p:cNvPr id="162" name="Google Shape;1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400" y="636120"/>
            <a:ext cx="391680" cy="39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0"/>
          <p:cNvSpPr txBox="1"/>
          <p:nvPr/>
        </p:nvSpPr>
        <p:spPr>
          <a:xfrm>
            <a:off x="1092240" y="658440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B5B5B5"/>
                </a:solidFill>
              </a:rPr>
              <a:t>{slide4_title}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30"/>
          <p:cNvCxnSpPr/>
          <p:nvPr/>
        </p:nvCxnSpPr>
        <p:spPr>
          <a:xfrm>
            <a:off x="718200" y="3810019"/>
            <a:ext cx="10755600" cy="300"/>
          </a:xfrm>
          <a:prstGeom prst="straightConnector1">
            <a:avLst/>
          </a:prstGeom>
          <a:noFill/>
          <a:ln cap="flat" cmpd="sng" w="12600">
            <a:solidFill>
              <a:srgbClr val="DBD9E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5" name="Google Shape;165;p30"/>
          <p:cNvCxnSpPr/>
          <p:nvPr/>
        </p:nvCxnSpPr>
        <p:spPr>
          <a:xfrm flipH="1" rot="10800000">
            <a:off x="1477870" y="2232494"/>
            <a:ext cx="300" cy="3353400"/>
          </a:xfrm>
          <a:prstGeom prst="straightConnector1">
            <a:avLst/>
          </a:prstGeom>
          <a:noFill/>
          <a:ln cap="flat" cmpd="sng" w="12600">
            <a:solidFill>
              <a:srgbClr val="DBD9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6" name="Google Shape;166;p30"/>
          <p:cNvSpPr txBox="1"/>
          <p:nvPr/>
        </p:nvSpPr>
        <p:spPr>
          <a:xfrm>
            <a:off x="1791290" y="2304139"/>
            <a:ext cx="78426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/>
              <a:t>{slide4_bullet_1}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3960" y="6141600"/>
            <a:ext cx="317520" cy="3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800" y="6576840"/>
            <a:ext cx="266652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0"/>
          <p:cNvSpPr txBox="1"/>
          <p:nvPr/>
        </p:nvSpPr>
        <p:spPr>
          <a:xfrm>
            <a:off x="1824410" y="4087579"/>
            <a:ext cx="78426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/>
              <a:t>{slide4_bullet_2}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/>
        </p:nvSpPr>
        <p:spPr>
          <a:xfrm>
            <a:off x="838080" y="365040"/>
            <a:ext cx="105156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5440" y="3569400"/>
            <a:ext cx="3441240" cy="863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1"/>
          <p:cNvSpPr/>
          <p:nvPr/>
        </p:nvSpPr>
        <p:spPr>
          <a:xfrm>
            <a:off x="0" y="6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</p:sp>
      <p:pic>
        <p:nvPicPr>
          <p:cNvPr id="177" name="Google Shape;17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400" y="636120"/>
            <a:ext cx="391680" cy="39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1"/>
          <p:cNvSpPr txBox="1"/>
          <p:nvPr/>
        </p:nvSpPr>
        <p:spPr>
          <a:xfrm>
            <a:off x="1092240" y="658440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B5B5B5"/>
                </a:solidFill>
              </a:rPr>
              <a:t>{slide5_title}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31"/>
          <p:cNvCxnSpPr/>
          <p:nvPr/>
        </p:nvCxnSpPr>
        <p:spPr>
          <a:xfrm rot="10800000">
            <a:off x="1478125" y="2232400"/>
            <a:ext cx="8100" cy="1583400"/>
          </a:xfrm>
          <a:prstGeom prst="straightConnector1">
            <a:avLst/>
          </a:prstGeom>
          <a:noFill/>
          <a:ln cap="flat" cmpd="sng" w="12600">
            <a:solidFill>
              <a:srgbClr val="DBD9E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0" name="Google Shape;180;p31"/>
          <p:cNvSpPr txBox="1"/>
          <p:nvPr/>
        </p:nvSpPr>
        <p:spPr>
          <a:xfrm>
            <a:off x="1791290" y="2304139"/>
            <a:ext cx="78426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/>
              <a:t>{slide5_bullet_1}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3960" y="6141600"/>
            <a:ext cx="317520" cy="3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800" y="6576840"/>
            <a:ext cx="2666520" cy="91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/>
        </p:nvSpPr>
        <p:spPr>
          <a:xfrm>
            <a:off x="838080" y="365040"/>
            <a:ext cx="105156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5440" y="3569400"/>
            <a:ext cx="3441240" cy="863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/>
          <p:nvPr/>
        </p:nvSpPr>
        <p:spPr>
          <a:xfrm>
            <a:off x="0" y="6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</p:sp>
      <p:pic>
        <p:nvPicPr>
          <p:cNvPr id="190" name="Google Shape;19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400" y="636120"/>
            <a:ext cx="391680" cy="39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 txBox="1"/>
          <p:nvPr/>
        </p:nvSpPr>
        <p:spPr>
          <a:xfrm>
            <a:off x="1092240" y="658440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B5B5B5"/>
                </a:solidFill>
              </a:rPr>
              <a:t>{slide6_title}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3960" y="6141600"/>
            <a:ext cx="317520" cy="3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800" y="6576840"/>
            <a:ext cx="266652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/>
          <p:nvPr/>
        </p:nvSpPr>
        <p:spPr>
          <a:xfrm>
            <a:off x="201168" y="1209745"/>
            <a:ext cx="2286000" cy="2331600"/>
          </a:xfrm>
          <a:prstGeom prst="rect">
            <a:avLst/>
          </a:prstGeom>
          <a:solidFill>
            <a:srgbClr val="EDE7F6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/>
          <p:nvPr/>
        </p:nvSpPr>
        <p:spPr>
          <a:xfrm>
            <a:off x="274320" y="1264609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4A1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5B54A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292608" y="1593793"/>
            <a:ext cx="2103000" cy="18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latin typeface="Calibri"/>
                <a:ea typeface="Calibri"/>
                <a:cs typeface="Calibri"/>
                <a:sym typeface="Calibri"/>
              </a:rPr>
              <a:t>{lc_problem}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2551176" y="1209745"/>
            <a:ext cx="2286000" cy="23316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"/>
          <p:cNvSpPr/>
          <p:nvPr/>
        </p:nvSpPr>
        <p:spPr>
          <a:xfrm>
            <a:off x="2624328" y="1264609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4A1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5B54A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2642616" y="1593793"/>
            <a:ext cx="2103000" cy="18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{lc_solution}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4901184" y="1209745"/>
            <a:ext cx="2286000" cy="3813000"/>
          </a:xfrm>
          <a:prstGeom prst="rect">
            <a:avLst/>
          </a:prstGeom>
          <a:solidFill>
            <a:srgbClr val="5B54A1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/>
          <p:nvPr/>
        </p:nvSpPr>
        <p:spPr>
          <a:xfrm>
            <a:off x="4974336" y="1264609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 VALUE PROP.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4992624" y="1593793"/>
            <a:ext cx="21030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{lc_uvp}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2"/>
          <p:cNvSpPr/>
          <p:nvPr/>
        </p:nvSpPr>
        <p:spPr>
          <a:xfrm>
            <a:off x="7251192" y="1209745"/>
            <a:ext cx="2286000" cy="2331600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2"/>
          <p:cNvSpPr/>
          <p:nvPr/>
        </p:nvSpPr>
        <p:spPr>
          <a:xfrm>
            <a:off x="7324344" y="1264609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UNFAIR ADVANTAGE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7342632" y="1593793"/>
            <a:ext cx="2103000" cy="18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{lc_advantage}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2"/>
          <p:cNvSpPr/>
          <p:nvPr/>
        </p:nvSpPr>
        <p:spPr>
          <a:xfrm>
            <a:off x="9601200" y="1209745"/>
            <a:ext cx="2286000" cy="23316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/>
          <p:nvPr/>
        </p:nvSpPr>
        <p:spPr>
          <a:xfrm>
            <a:off x="9674352" y="1264609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4A1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5B54A1"/>
                </a:solidFill>
                <a:latin typeface="Calibri"/>
                <a:ea typeface="Calibri"/>
                <a:cs typeface="Calibri"/>
                <a:sym typeface="Calibri"/>
              </a:rPr>
              <a:t>CUSTOMER SEGMENTS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9692640" y="1593793"/>
            <a:ext cx="2103000" cy="18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{lc_segments}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201168" y="3605473"/>
            <a:ext cx="2286000" cy="141720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/>
          <p:nvPr/>
        </p:nvSpPr>
        <p:spPr>
          <a:xfrm>
            <a:off x="274320" y="3660337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2"/>
          <p:cNvSpPr/>
          <p:nvPr/>
        </p:nvSpPr>
        <p:spPr>
          <a:xfrm>
            <a:off x="292608" y="3989521"/>
            <a:ext cx="21030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{lc_metrics}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2551176" y="3605473"/>
            <a:ext cx="2286000" cy="141720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2"/>
          <p:cNvSpPr/>
          <p:nvPr/>
        </p:nvSpPr>
        <p:spPr>
          <a:xfrm>
            <a:off x="2624328" y="3660337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5C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2642616" y="3989521"/>
            <a:ext cx="21030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{lc_channels}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7251192" y="3605473"/>
            <a:ext cx="2286000" cy="14172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2"/>
          <p:cNvSpPr/>
          <p:nvPr/>
        </p:nvSpPr>
        <p:spPr>
          <a:xfrm>
            <a:off x="7324344" y="3660337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4A1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5B54A1"/>
                </a:solidFill>
                <a:latin typeface="Calibri"/>
                <a:ea typeface="Calibri"/>
                <a:cs typeface="Calibri"/>
                <a:sym typeface="Calibri"/>
              </a:rPr>
              <a:t>CONT. SEGMENTS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2"/>
          <p:cNvSpPr/>
          <p:nvPr/>
        </p:nvSpPr>
        <p:spPr>
          <a:xfrm>
            <a:off x="7342632" y="3989521"/>
            <a:ext cx="21030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9601200" y="3605473"/>
            <a:ext cx="2286000" cy="1417200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/>
          <p:nvPr/>
        </p:nvSpPr>
        <p:spPr>
          <a:xfrm>
            <a:off x="9674352" y="3660337"/>
            <a:ext cx="21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CONT. ADVANTAGE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9692640" y="3989521"/>
            <a:ext cx="21030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201168" y="5086801"/>
            <a:ext cx="5811000" cy="10059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2"/>
          <p:cNvSpPr/>
          <p:nvPr/>
        </p:nvSpPr>
        <p:spPr>
          <a:xfrm>
            <a:off x="274320" y="5141665"/>
            <a:ext cx="566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COST STRUCTURE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292608" y="5470849"/>
            <a:ext cx="562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{lc_costs}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6076188" y="5086801"/>
            <a:ext cx="5811000" cy="10059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2"/>
          <p:cNvSpPr/>
          <p:nvPr/>
        </p:nvSpPr>
        <p:spPr>
          <a:xfrm>
            <a:off x="6149340" y="5141665"/>
            <a:ext cx="566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000"/>
              <a:buFont typeface="Calibri"/>
              <a:buNone/>
            </a:pPr>
            <a:r>
              <a:rPr b="1" i="0" lang="pt-PT" sz="10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REVENUE STREAMS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6167628" y="5470849"/>
            <a:ext cx="562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lang="pt-PT" sz="10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{lc_revenue}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/>
          <p:nvPr/>
        </p:nvSpPr>
        <p:spPr>
          <a:xfrm>
            <a:off x="0" y="0"/>
            <a:ext cx="1219212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</p:sp>
      <p:pic>
        <p:nvPicPr>
          <p:cNvPr id="232" name="Google Shape;2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120" cy="51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9040" y="1211760"/>
            <a:ext cx="8653680" cy="310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33"/>
          <p:cNvCxnSpPr/>
          <p:nvPr/>
        </p:nvCxnSpPr>
        <p:spPr>
          <a:xfrm>
            <a:off x="1668240" y="4750920"/>
            <a:ext cx="8855640" cy="360"/>
          </a:xfrm>
          <a:prstGeom prst="straightConnector1">
            <a:avLst/>
          </a:prstGeom>
          <a:noFill/>
          <a:ln cap="flat" cmpd="sng" w="9525">
            <a:solidFill>
              <a:srgbClr val="FFCD00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35" name="Google Shape;23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8240" y="5246280"/>
            <a:ext cx="3198600" cy="44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3280" y="4947840"/>
            <a:ext cx="1200240" cy="120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 txBox="1"/>
          <p:nvPr/>
        </p:nvSpPr>
        <p:spPr>
          <a:xfrm>
            <a:off x="5217480" y="5046120"/>
            <a:ext cx="3755520" cy="120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PT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(+351) 914 008 236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PT" sz="1800"/>
            </a:br>
            <a:r>
              <a:rPr b="0" lang="pt-PT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info@flowproductions.Pt</a:t>
            </a:r>
            <a:br>
              <a:rPr lang="pt-PT" sz="1800"/>
            </a:br>
            <a:br>
              <a:rPr lang="pt-PT" sz="1800"/>
            </a:br>
            <a:r>
              <a:rPr b="0" lang="pt-PT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Edifício Ualg Tec Campus Universidade do Algarve, </a:t>
            </a:r>
            <a:br>
              <a:rPr lang="pt-PT" sz="1800"/>
            </a:br>
            <a:r>
              <a:rPr b="0" lang="pt-PT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Campus da Penha, 8005-139 Faro, Portugal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800" y="6568560"/>
            <a:ext cx="2666520" cy="91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